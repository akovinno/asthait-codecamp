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1"/>
  </p:notesMasterIdLst>
  <p:sldIdLst>
    <p:sldId id="256" r:id="rId2"/>
    <p:sldId id="314" r:id="rId3"/>
    <p:sldId id="328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271" r:id="rId18"/>
    <p:sldId id="272" r:id="rId19"/>
    <p:sldId id="313" r:id="rId20"/>
  </p:sldIdLst>
  <p:sldSz cx="9144000" cy="5143500" type="screen16x9"/>
  <p:notesSz cx="6858000" cy="9144000"/>
  <p:embeddedFontLst>
    <p:embeddedFont>
      <p:font typeface="Commissioner" panose="020B0604020202020204" charset="0"/>
      <p:regular r:id="rId22"/>
      <p:bold r:id="rId23"/>
    </p:embeddedFont>
    <p:embeddedFont>
      <p:font typeface="Golos Text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66198B-2AC6-4C8D-B240-BBCC06C5F0EA}">
  <a:tblStyle styleId="{8366198B-2AC6-4C8D-B240-BBCC06C5F0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3b627a12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3b627a12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351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3b627a12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3b627a12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9588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31ff7c0f5b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31ff7c0f5b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3b38366d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3b38366d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332200"/>
            <a:ext cx="5004900" cy="1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0049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253750" y="1670575"/>
            <a:ext cx="4636500" cy="18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3" name="Google Shape;53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55" name="Google Shape;55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2143050" y="1461775"/>
            <a:ext cx="48579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2143050" y="2360663"/>
            <a:ext cx="4857900" cy="12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783150" y="1931831"/>
            <a:ext cx="7577700" cy="1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cxnSp>
        <p:nvCxnSpPr>
          <p:cNvPr id="95" name="Google Shape;95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5" name="Google Shape;265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7" name="Google Shape;267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" name="Google Shape;271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2" name="Google Shape;272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8" r:id="rId4"/>
    <p:sldLayoutId id="2147483660" r:id="rId5"/>
    <p:sldLayoutId id="2147483679" r:id="rId6"/>
    <p:sldLayoutId id="214748368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>
            <a:spLocks noGrp="1"/>
          </p:cNvSpPr>
          <p:nvPr>
            <p:ph type="ctrTitle"/>
          </p:nvPr>
        </p:nvSpPr>
        <p:spPr>
          <a:xfrm>
            <a:off x="713224" y="1332200"/>
            <a:ext cx="7093387" cy="1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/>
              <a:t>Crack Your First Interview</a:t>
            </a:r>
          </a:p>
        </p:txBody>
      </p:sp>
      <p:sp>
        <p:nvSpPr>
          <p:cNvPr id="291" name="Google Shape;291;p41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0049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500" dirty="0"/>
              <a:t>Etiquettes That Make You Stand Out</a:t>
            </a:r>
            <a:endParaRPr sz="1500" dirty="0">
              <a:latin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>
            <a:spLocks noGrp="1"/>
          </p:cNvSpPr>
          <p:nvPr>
            <p:ph type="title"/>
          </p:nvPr>
        </p:nvSpPr>
        <p:spPr>
          <a:xfrm>
            <a:off x="930777" y="1039210"/>
            <a:ext cx="4959950" cy="10197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latin typeface="Commissioner" panose="020B0604020202020204" charset="0"/>
              </a:rPr>
              <a:t>An interview is not an exam where you pass or fail.</a:t>
            </a:r>
            <a:br>
              <a:rPr lang="en-US" sz="1600" dirty="0">
                <a:latin typeface="Commissioner" panose="020B0604020202020204" charset="0"/>
              </a:rPr>
            </a:br>
            <a:r>
              <a:rPr lang="en-US" sz="1600" dirty="0">
                <a:latin typeface="Commissioner" panose="020B0604020202020204" charset="0"/>
              </a:rPr>
              <a:t>It’s a conversation where both sides decide — are we right for each other?</a:t>
            </a:r>
            <a:endParaRPr sz="1600" dirty="0">
              <a:latin typeface="Commissioner" panose="020B0604020202020204" charset="0"/>
            </a:endParaRPr>
          </a:p>
        </p:txBody>
      </p:sp>
      <p:sp>
        <p:nvSpPr>
          <p:cNvPr id="343" name="Google Shape;343;p46"/>
          <p:cNvSpPr txBox="1">
            <a:spLocks noGrp="1"/>
          </p:cNvSpPr>
          <p:nvPr>
            <p:ph type="subTitle" idx="1"/>
          </p:nvPr>
        </p:nvSpPr>
        <p:spPr>
          <a:xfrm>
            <a:off x="3784813" y="3084544"/>
            <a:ext cx="4857900" cy="8535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Today, I’ll show you how interviews can actually become your biggest advantage.</a:t>
            </a:r>
          </a:p>
        </p:txBody>
      </p:sp>
    </p:spTree>
    <p:extLst>
      <p:ext uri="{BB962C8B-B14F-4D97-AF65-F5344CB8AC3E}">
        <p14:creationId xmlns:p14="http://schemas.microsoft.com/office/powerpoint/2010/main" val="252677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>
            <a:spLocks noGrp="1"/>
          </p:cNvSpPr>
          <p:nvPr>
            <p:ph type="title"/>
          </p:nvPr>
        </p:nvSpPr>
        <p:spPr>
          <a:xfrm>
            <a:off x="930777" y="1039211"/>
            <a:ext cx="48579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/>
              <a:t>Interview Etiquettes</a:t>
            </a:r>
            <a:endParaRPr sz="3000" dirty="0"/>
          </a:p>
        </p:txBody>
      </p:sp>
      <p:sp>
        <p:nvSpPr>
          <p:cNvPr id="343" name="Google Shape;343;p46"/>
          <p:cNvSpPr txBox="1">
            <a:spLocks noGrp="1"/>
          </p:cNvSpPr>
          <p:nvPr>
            <p:ph type="subTitle" idx="1"/>
          </p:nvPr>
        </p:nvSpPr>
        <p:spPr>
          <a:xfrm>
            <a:off x="3784813" y="3250697"/>
            <a:ext cx="4857900" cy="8535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Etiquettes That Make You Stand Out</a:t>
            </a:r>
            <a:endParaRPr lang="en-US" sz="2000" dirty="0">
              <a:latin typeface="Golos Text"/>
              <a:cs typeface="Golos Text"/>
              <a:sym typeface="Golos Text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9978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r>
              <a:rPr lang="en-US" sz="3000" dirty="0"/>
              <a:t>Why Interview Etiquette Matters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7CB53E-D129-4ADD-BB65-541814F91C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70772" y="1676847"/>
            <a:ext cx="447109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First impression is critical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professionalism &amp; attitude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you stand out among candidates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Reflects communication and confidence </a:t>
            </a:r>
          </a:p>
        </p:txBody>
      </p:sp>
    </p:spTree>
    <p:extLst>
      <p:ext uri="{BB962C8B-B14F-4D97-AF65-F5344CB8AC3E}">
        <p14:creationId xmlns:p14="http://schemas.microsoft.com/office/powerpoint/2010/main" val="407283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r>
              <a:rPr lang="en-US" sz="3200" dirty="0"/>
              <a:t>Before the Interview (Preparation)</a:t>
            </a:r>
            <a:endParaRPr lang="en-US" sz="3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DE419C4-0265-4CE4-8F4E-AB418C6077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012" y="1711245"/>
            <a:ext cx="4753224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Research the company &amp; role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job description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Prepare common interview questions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 documents ready (CV, portfolio)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Plan your route / check internet (for online) </a:t>
            </a:r>
          </a:p>
        </p:txBody>
      </p:sp>
    </p:spTree>
    <p:extLst>
      <p:ext uri="{BB962C8B-B14F-4D97-AF65-F5344CB8AC3E}">
        <p14:creationId xmlns:p14="http://schemas.microsoft.com/office/powerpoint/2010/main" val="3053477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Dress Code &amp; Appearance</a:t>
            </a:r>
            <a:endParaRPr lang="en-US" sz="3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322B0DC-AEF7-425F-9C47-7063C8ECFE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012" y="1775763"/>
            <a:ext cx="45480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Wear clean, formal or smart casual attire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Avoid flashy colors or heavy perfume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 proper grooming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 it simple and neat </a:t>
            </a:r>
          </a:p>
        </p:txBody>
      </p:sp>
    </p:spTree>
    <p:extLst>
      <p:ext uri="{BB962C8B-B14F-4D97-AF65-F5344CB8AC3E}">
        <p14:creationId xmlns:p14="http://schemas.microsoft.com/office/powerpoint/2010/main" val="25393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Being On Time</a:t>
            </a:r>
            <a:endParaRPr lang="en-US" sz="3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81F19C-2857-47E3-B5FB-3669B9F214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012" y="1902335"/>
            <a:ext cx="368883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Arrive 10–15 minutes early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virtual: join 2 minutes before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Inform in advance if delayed </a:t>
            </a:r>
          </a:p>
        </p:txBody>
      </p:sp>
    </p:spTree>
    <p:extLst>
      <p:ext uri="{BB962C8B-B14F-4D97-AF65-F5344CB8AC3E}">
        <p14:creationId xmlns:p14="http://schemas.microsoft.com/office/powerpoint/2010/main" val="71481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First Impression</a:t>
            </a:r>
            <a:endParaRPr lang="en-US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4220B9-AE98-45EB-96B3-3CFE1E5EF73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725" y="1902336"/>
            <a:ext cx="461216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Greet politely (smile, eye contact)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Firm but polite handshake (if appropriate)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 confident but not overconfident </a:t>
            </a:r>
          </a:p>
        </p:txBody>
      </p:sp>
    </p:spTree>
    <p:extLst>
      <p:ext uri="{BB962C8B-B14F-4D97-AF65-F5344CB8AC3E}">
        <p14:creationId xmlns:p14="http://schemas.microsoft.com/office/powerpoint/2010/main" val="3225771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Body Language</a:t>
            </a:r>
            <a:endParaRPr lang="en-US" sz="3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5C6A35-1D5B-41BB-9511-E6B893C2DF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012" y="1906081"/>
            <a:ext cx="36760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Sit straight, stay attentive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Avoid crossing arms or fidgeting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 eye contact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 to show engagement </a:t>
            </a:r>
          </a:p>
        </p:txBody>
      </p:sp>
    </p:spTree>
    <p:extLst>
      <p:ext uri="{BB962C8B-B14F-4D97-AF65-F5344CB8AC3E}">
        <p14:creationId xmlns:p14="http://schemas.microsoft.com/office/powerpoint/2010/main" val="2264416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Communication Skills</a:t>
            </a:r>
            <a:endParaRPr lang="en-US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BF2412-1736-4235-8D85-95E8E49E9B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725" y="1905725"/>
            <a:ext cx="42787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Listen carefully before answering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Speak clearly and confidently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 answers structured and concise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Avoid slang or overly casual language </a:t>
            </a:r>
          </a:p>
        </p:txBody>
      </p:sp>
    </p:spTree>
    <p:extLst>
      <p:ext uri="{BB962C8B-B14F-4D97-AF65-F5344CB8AC3E}">
        <p14:creationId xmlns:p14="http://schemas.microsoft.com/office/powerpoint/2010/main" val="2443303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Answering Questions</a:t>
            </a:r>
            <a:endParaRPr lang="en-US" sz="3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BCBFA6-429C-4A95-B43B-D109FF49FB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725" y="1905725"/>
            <a:ext cx="488146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 honest (don’t bluff)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examples (academic/project/internship)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Stay positive - even about weaknesses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Take a moment before answering if needed </a:t>
            </a:r>
          </a:p>
        </p:txBody>
      </p:sp>
    </p:spTree>
    <p:extLst>
      <p:ext uri="{BB962C8B-B14F-4D97-AF65-F5344CB8AC3E}">
        <p14:creationId xmlns:p14="http://schemas.microsoft.com/office/powerpoint/2010/main" val="780884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Common Mistakes to Avoid</a:t>
            </a:r>
            <a:endParaRPr lang="en-US" sz="3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EAB56BE-FEBF-4103-BC6B-205FF3249B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012" y="1851018"/>
            <a:ext cx="3804247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Arriving late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Interrupting interviewer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Speaking negatively about others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phone during interview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Lack of preparation </a:t>
            </a:r>
          </a:p>
        </p:txBody>
      </p:sp>
    </p:spTree>
    <p:extLst>
      <p:ext uri="{BB962C8B-B14F-4D97-AF65-F5344CB8AC3E}">
        <p14:creationId xmlns:p14="http://schemas.microsoft.com/office/powerpoint/2010/main" val="2613504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Asking Questions</a:t>
            </a:r>
            <a:endParaRPr lang="en-US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74951A-1376-4FE5-8465-9BEC2E67A6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725" y="1919626"/>
            <a:ext cx="468910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curiosity about the role/company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 questions: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“What does success look like in this role?”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“What are the team’s current priorities?”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994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Closing the Interview</a:t>
            </a:r>
            <a:endParaRPr lang="en-US" sz="3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E47AB3-C2B7-42C4-8C51-D0AF799B1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012" y="1902336"/>
            <a:ext cx="3124573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Thank the interviewer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Express interest in the role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Ask about next steps </a:t>
            </a:r>
          </a:p>
        </p:txBody>
      </p:sp>
    </p:spTree>
    <p:extLst>
      <p:ext uri="{BB962C8B-B14F-4D97-AF65-F5344CB8AC3E}">
        <p14:creationId xmlns:p14="http://schemas.microsoft.com/office/powerpoint/2010/main" val="2916816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After the Interview</a:t>
            </a:r>
            <a:endParaRPr lang="en-US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24A885-0F76-4E2E-BA45-4776CCB955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1725" y="1902336"/>
            <a:ext cx="336823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 a thank-you email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Reflect on your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Stay patient and professional </a:t>
            </a:r>
          </a:p>
        </p:txBody>
      </p:sp>
    </p:spTree>
    <p:extLst>
      <p:ext uri="{BB962C8B-B14F-4D97-AF65-F5344CB8AC3E}">
        <p14:creationId xmlns:p14="http://schemas.microsoft.com/office/powerpoint/2010/main" val="817319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CD8F-11AF-465F-BF9F-144B93C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12" y="1050618"/>
            <a:ext cx="6941975" cy="800400"/>
          </a:xfrm>
        </p:spPr>
        <p:txBody>
          <a:bodyPr/>
          <a:lstStyle/>
          <a:p>
            <a:pPr algn="l"/>
            <a:r>
              <a:rPr lang="en-US" sz="3200" dirty="0"/>
              <a:t>After the Interview</a:t>
            </a:r>
            <a:endParaRPr lang="en-US" sz="3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E93AB5-4DCD-422A-9530-FEE8F49C2B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0150" y="2008083"/>
            <a:ext cx="4458272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 yourself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Confidence + preparation = success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Every interview is a learning experience </a:t>
            </a:r>
          </a:p>
        </p:txBody>
      </p:sp>
    </p:spTree>
    <p:extLst>
      <p:ext uri="{BB962C8B-B14F-4D97-AF65-F5344CB8AC3E}">
        <p14:creationId xmlns:p14="http://schemas.microsoft.com/office/powerpoint/2010/main" val="364982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6"/>
          <p:cNvSpPr txBox="1">
            <a:spLocks noGrp="1"/>
          </p:cNvSpPr>
          <p:nvPr>
            <p:ph type="title"/>
          </p:nvPr>
        </p:nvSpPr>
        <p:spPr>
          <a:xfrm>
            <a:off x="2348063" y="1564828"/>
            <a:ext cx="5116868" cy="18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000" dirty="0"/>
              <a:t>Every interview is not about selection, it’s about self-discovery.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57"/>
          <p:cNvGrpSpPr/>
          <p:nvPr/>
        </p:nvGrpSpPr>
        <p:grpSpPr>
          <a:xfrm>
            <a:off x="0" y="1239975"/>
            <a:ext cx="9144000" cy="2571600"/>
            <a:chOff x="0" y="0"/>
            <a:chExt cx="9144000" cy="2571600"/>
          </a:xfrm>
        </p:grpSpPr>
        <p:sp>
          <p:nvSpPr>
            <p:cNvPr id="545" name="Google Shape;545;p57"/>
            <p:cNvSpPr/>
            <p:nvPr/>
          </p:nvSpPr>
          <p:spPr>
            <a:xfrm>
              <a:off x="0" y="868008"/>
              <a:ext cx="91440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6" name="Google Shape;546;p57"/>
            <p:cNvCxnSpPr/>
            <p:nvPr/>
          </p:nvCxnSpPr>
          <p:spPr>
            <a:xfrm>
              <a:off x="283800" y="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49" name="Google Shape;549;p57"/>
          <p:cNvSpPr/>
          <p:nvPr/>
        </p:nvSpPr>
        <p:spPr>
          <a:xfrm>
            <a:off x="7703900" y="1071700"/>
            <a:ext cx="532500" cy="4072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Golos Tex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92763-AF7A-79FF-E6CF-5A46E4AB91A4}"/>
              </a:ext>
            </a:extLst>
          </p:cNvPr>
          <p:cNvSpPr txBox="1"/>
          <p:nvPr/>
        </p:nvSpPr>
        <p:spPr>
          <a:xfrm>
            <a:off x="3492003" y="2175584"/>
            <a:ext cx="20567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000" dirty="0"/>
              <a:t>Thanks!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4947;p92">
            <a:extLst>
              <a:ext uri="{FF2B5EF4-FFF2-40B4-BE49-F238E27FC236}">
                <a16:creationId xmlns:a16="http://schemas.microsoft.com/office/drawing/2014/main" id="{D9301F7E-BD55-81B4-91E9-13DCD92CEABE}"/>
              </a:ext>
            </a:extLst>
          </p:cNvPr>
          <p:cNvGrpSpPr/>
          <p:nvPr/>
        </p:nvGrpSpPr>
        <p:grpSpPr>
          <a:xfrm>
            <a:off x="3080537" y="1650267"/>
            <a:ext cx="2592899" cy="1584770"/>
            <a:chOff x="3961923" y="2486317"/>
            <a:chExt cx="364415" cy="220936"/>
          </a:xfrm>
        </p:grpSpPr>
        <p:sp>
          <p:nvSpPr>
            <p:cNvPr id="13" name="Google Shape;14948;p92">
              <a:extLst>
                <a:ext uri="{FF2B5EF4-FFF2-40B4-BE49-F238E27FC236}">
                  <a16:creationId xmlns:a16="http://schemas.microsoft.com/office/drawing/2014/main" id="{4BF6C15E-3FAB-4F6F-4FDF-26CEE33DDF3D}"/>
                </a:ext>
              </a:extLst>
            </p:cNvPr>
            <p:cNvSpPr/>
            <p:nvPr/>
          </p:nvSpPr>
          <p:spPr>
            <a:xfrm>
              <a:off x="4106764" y="2486507"/>
              <a:ext cx="219574" cy="220746"/>
            </a:xfrm>
            <a:custGeom>
              <a:avLst/>
              <a:gdLst/>
              <a:ahLst/>
              <a:cxnLst/>
              <a:rect l="l" t="t" r="r" b="b"/>
              <a:pathLst>
                <a:path w="6931" h="6968" extrusionOk="0">
                  <a:moveTo>
                    <a:pt x="4114" y="1"/>
                  </a:moveTo>
                  <a:cubicBezTo>
                    <a:pt x="4035" y="1"/>
                    <a:pt x="3953" y="69"/>
                    <a:pt x="3942" y="157"/>
                  </a:cubicBezTo>
                  <a:cubicBezTo>
                    <a:pt x="3930" y="240"/>
                    <a:pt x="4001" y="336"/>
                    <a:pt x="4085" y="348"/>
                  </a:cubicBezTo>
                  <a:cubicBezTo>
                    <a:pt x="4906" y="455"/>
                    <a:pt x="5633" y="895"/>
                    <a:pt x="6085" y="1574"/>
                  </a:cubicBezTo>
                  <a:cubicBezTo>
                    <a:pt x="6764" y="2610"/>
                    <a:pt x="6728" y="3943"/>
                    <a:pt x="5954" y="4908"/>
                  </a:cubicBezTo>
                  <a:cubicBezTo>
                    <a:pt x="5918" y="4943"/>
                    <a:pt x="5906" y="4991"/>
                    <a:pt x="5918" y="5027"/>
                  </a:cubicBezTo>
                  <a:lnTo>
                    <a:pt x="5990" y="6539"/>
                  </a:lnTo>
                  <a:lnTo>
                    <a:pt x="5990" y="6539"/>
                  </a:lnTo>
                  <a:lnTo>
                    <a:pt x="4644" y="5896"/>
                  </a:lnTo>
                  <a:cubicBezTo>
                    <a:pt x="4609" y="5884"/>
                    <a:pt x="4561" y="5884"/>
                    <a:pt x="4525" y="5884"/>
                  </a:cubicBezTo>
                  <a:cubicBezTo>
                    <a:pt x="4272" y="5957"/>
                    <a:pt x="4014" y="5992"/>
                    <a:pt x="3758" y="5992"/>
                  </a:cubicBezTo>
                  <a:cubicBezTo>
                    <a:pt x="2969" y="5992"/>
                    <a:pt x="2201" y="5659"/>
                    <a:pt x="1644" y="5074"/>
                  </a:cubicBezTo>
                  <a:cubicBezTo>
                    <a:pt x="1584" y="5015"/>
                    <a:pt x="1549" y="4955"/>
                    <a:pt x="1501" y="4896"/>
                  </a:cubicBezTo>
                  <a:cubicBezTo>
                    <a:pt x="1453" y="4836"/>
                    <a:pt x="1430" y="4789"/>
                    <a:pt x="1382" y="4729"/>
                  </a:cubicBezTo>
                  <a:lnTo>
                    <a:pt x="1382" y="4717"/>
                  </a:lnTo>
                  <a:cubicBezTo>
                    <a:pt x="1620" y="4300"/>
                    <a:pt x="1751" y="3836"/>
                    <a:pt x="1787" y="3384"/>
                  </a:cubicBezTo>
                  <a:cubicBezTo>
                    <a:pt x="1787" y="3288"/>
                    <a:pt x="1727" y="3205"/>
                    <a:pt x="1632" y="3205"/>
                  </a:cubicBezTo>
                  <a:cubicBezTo>
                    <a:pt x="1549" y="3205"/>
                    <a:pt x="1453" y="3265"/>
                    <a:pt x="1453" y="3348"/>
                  </a:cubicBezTo>
                  <a:cubicBezTo>
                    <a:pt x="1430" y="3836"/>
                    <a:pt x="1263" y="4312"/>
                    <a:pt x="977" y="4729"/>
                  </a:cubicBezTo>
                  <a:cubicBezTo>
                    <a:pt x="739" y="5074"/>
                    <a:pt x="441" y="5360"/>
                    <a:pt x="96" y="5586"/>
                  </a:cubicBezTo>
                  <a:cubicBezTo>
                    <a:pt x="25" y="5622"/>
                    <a:pt x="1" y="5729"/>
                    <a:pt x="37" y="5801"/>
                  </a:cubicBezTo>
                  <a:cubicBezTo>
                    <a:pt x="72" y="5848"/>
                    <a:pt x="132" y="5884"/>
                    <a:pt x="191" y="5884"/>
                  </a:cubicBezTo>
                  <a:cubicBezTo>
                    <a:pt x="215" y="5884"/>
                    <a:pt x="251" y="5860"/>
                    <a:pt x="275" y="5848"/>
                  </a:cubicBezTo>
                  <a:cubicBezTo>
                    <a:pt x="632" y="5622"/>
                    <a:pt x="953" y="5348"/>
                    <a:pt x="1192" y="5015"/>
                  </a:cubicBezTo>
                  <a:cubicBezTo>
                    <a:pt x="1203" y="5051"/>
                    <a:pt x="1215" y="5062"/>
                    <a:pt x="1251" y="5086"/>
                  </a:cubicBezTo>
                  <a:cubicBezTo>
                    <a:pt x="1311" y="5170"/>
                    <a:pt x="1370" y="5229"/>
                    <a:pt x="1406" y="5301"/>
                  </a:cubicBezTo>
                  <a:cubicBezTo>
                    <a:pt x="1811" y="5729"/>
                    <a:pt x="2323" y="6039"/>
                    <a:pt x="2894" y="6205"/>
                  </a:cubicBezTo>
                  <a:cubicBezTo>
                    <a:pt x="3179" y="6284"/>
                    <a:pt x="3465" y="6323"/>
                    <a:pt x="3749" y="6323"/>
                  </a:cubicBezTo>
                  <a:cubicBezTo>
                    <a:pt x="4021" y="6323"/>
                    <a:pt x="4293" y="6287"/>
                    <a:pt x="4561" y="6217"/>
                  </a:cubicBezTo>
                  <a:lnTo>
                    <a:pt x="6109" y="6956"/>
                  </a:lnTo>
                  <a:cubicBezTo>
                    <a:pt x="6145" y="6967"/>
                    <a:pt x="6156" y="6967"/>
                    <a:pt x="6192" y="6967"/>
                  </a:cubicBezTo>
                  <a:cubicBezTo>
                    <a:pt x="6216" y="6967"/>
                    <a:pt x="6252" y="6956"/>
                    <a:pt x="6275" y="6932"/>
                  </a:cubicBezTo>
                  <a:cubicBezTo>
                    <a:pt x="6323" y="6908"/>
                    <a:pt x="6347" y="6848"/>
                    <a:pt x="6347" y="6789"/>
                  </a:cubicBezTo>
                  <a:lnTo>
                    <a:pt x="6275" y="5074"/>
                  </a:lnTo>
                  <a:cubicBezTo>
                    <a:pt x="6668" y="4574"/>
                    <a:pt x="6883" y="3955"/>
                    <a:pt x="6918" y="3300"/>
                  </a:cubicBezTo>
                  <a:cubicBezTo>
                    <a:pt x="6930" y="2622"/>
                    <a:pt x="6752" y="1967"/>
                    <a:pt x="6371" y="1383"/>
                  </a:cubicBezTo>
                  <a:cubicBezTo>
                    <a:pt x="5859" y="633"/>
                    <a:pt x="5037" y="121"/>
                    <a:pt x="4132" y="2"/>
                  </a:cubicBezTo>
                  <a:cubicBezTo>
                    <a:pt x="4126" y="1"/>
                    <a:pt x="4120" y="1"/>
                    <a:pt x="411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949;p92">
              <a:extLst>
                <a:ext uri="{FF2B5EF4-FFF2-40B4-BE49-F238E27FC236}">
                  <a16:creationId xmlns:a16="http://schemas.microsoft.com/office/drawing/2014/main" id="{615BC622-6399-12D1-5109-283C3135F8D3}"/>
                </a:ext>
              </a:extLst>
            </p:cNvPr>
            <p:cNvSpPr/>
            <p:nvPr/>
          </p:nvSpPr>
          <p:spPr>
            <a:xfrm>
              <a:off x="3961923" y="2486317"/>
              <a:ext cx="259839" cy="220936"/>
            </a:xfrm>
            <a:custGeom>
              <a:avLst/>
              <a:gdLst/>
              <a:ahLst/>
              <a:cxnLst/>
              <a:rect l="l" t="t" r="r" b="b"/>
              <a:pathLst>
                <a:path w="8202" h="6974" extrusionOk="0">
                  <a:moveTo>
                    <a:pt x="3198" y="1"/>
                  </a:moveTo>
                  <a:cubicBezTo>
                    <a:pt x="2177" y="1"/>
                    <a:pt x="1174" y="493"/>
                    <a:pt x="560" y="1413"/>
                  </a:cubicBezTo>
                  <a:cubicBezTo>
                    <a:pt x="179" y="1973"/>
                    <a:pt x="1" y="2640"/>
                    <a:pt x="25" y="3318"/>
                  </a:cubicBezTo>
                  <a:cubicBezTo>
                    <a:pt x="60" y="3949"/>
                    <a:pt x="287" y="4556"/>
                    <a:pt x="668" y="5080"/>
                  </a:cubicBezTo>
                  <a:lnTo>
                    <a:pt x="596" y="6795"/>
                  </a:lnTo>
                  <a:cubicBezTo>
                    <a:pt x="596" y="6854"/>
                    <a:pt x="620" y="6914"/>
                    <a:pt x="668" y="6938"/>
                  </a:cubicBezTo>
                  <a:cubicBezTo>
                    <a:pt x="703" y="6962"/>
                    <a:pt x="727" y="6973"/>
                    <a:pt x="763" y="6973"/>
                  </a:cubicBezTo>
                  <a:cubicBezTo>
                    <a:pt x="787" y="6973"/>
                    <a:pt x="799" y="6973"/>
                    <a:pt x="834" y="6962"/>
                  </a:cubicBezTo>
                  <a:lnTo>
                    <a:pt x="2382" y="6235"/>
                  </a:lnTo>
                  <a:cubicBezTo>
                    <a:pt x="2647" y="6300"/>
                    <a:pt x="2916" y="6333"/>
                    <a:pt x="3186" y="6333"/>
                  </a:cubicBezTo>
                  <a:cubicBezTo>
                    <a:pt x="3512" y="6333"/>
                    <a:pt x="3837" y="6285"/>
                    <a:pt x="4156" y="6188"/>
                  </a:cubicBezTo>
                  <a:cubicBezTo>
                    <a:pt x="4240" y="6152"/>
                    <a:pt x="4287" y="6069"/>
                    <a:pt x="4251" y="5973"/>
                  </a:cubicBezTo>
                  <a:cubicBezTo>
                    <a:pt x="4233" y="5909"/>
                    <a:pt x="4172" y="5866"/>
                    <a:pt x="4107" y="5866"/>
                  </a:cubicBezTo>
                  <a:cubicBezTo>
                    <a:pt x="4088" y="5866"/>
                    <a:pt x="4068" y="5870"/>
                    <a:pt x="4049" y="5878"/>
                  </a:cubicBezTo>
                  <a:cubicBezTo>
                    <a:pt x="3772" y="5971"/>
                    <a:pt x="3484" y="6015"/>
                    <a:pt x="3198" y="6015"/>
                  </a:cubicBezTo>
                  <a:cubicBezTo>
                    <a:pt x="2931" y="6015"/>
                    <a:pt x="2664" y="5976"/>
                    <a:pt x="2406" y="5902"/>
                  </a:cubicBezTo>
                  <a:cubicBezTo>
                    <a:pt x="2391" y="5897"/>
                    <a:pt x="2376" y="5894"/>
                    <a:pt x="2361" y="5894"/>
                  </a:cubicBezTo>
                  <a:cubicBezTo>
                    <a:pt x="2339" y="5894"/>
                    <a:pt x="2315" y="5900"/>
                    <a:pt x="2287" y="5914"/>
                  </a:cubicBezTo>
                  <a:lnTo>
                    <a:pt x="941" y="6533"/>
                  </a:lnTo>
                  <a:lnTo>
                    <a:pt x="941" y="6533"/>
                  </a:lnTo>
                  <a:lnTo>
                    <a:pt x="1013" y="5021"/>
                  </a:lnTo>
                  <a:cubicBezTo>
                    <a:pt x="1013" y="4985"/>
                    <a:pt x="1001" y="4949"/>
                    <a:pt x="977" y="4902"/>
                  </a:cubicBezTo>
                  <a:cubicBezTo>
                    <a:pt x="203" y="3937"/>
                    <a:pt x="168" y="2604"/>
                    <a:pt x="846" y="1568"/>
                  </a:cubicBezTo>
                  <a:cubicBezTo>
                    <a:pt x="1393" y="759"/>
                    <a:pt x="2293" y="318"/>
                    <a:pt x="3208" y="318"/>
                  </a:cubicBezTo>
                  <a:cubicBezTo>
                    <a:pt x="3748" y="318"/>
                    <a:pt x="4294" y="472"/>
                    <a:pt x="4775" y="794"/>
                  </a:cubicBezTo>
                  <a:cubicBezTo>
                    <a:pt x="5430" y="1247"/>
                    <a:pt x="5883" y="1949"/>
                    <a:pt x="6002" y="2735"/>
                  </a:cubicBezTo>
                  <a:cubicBezTo>
                    <a:pt x="6013" y="2811"/>
                    <a:pt x="6083" y="2867"/>
                    <a:pt x="6168" y="2867"/>
                  </a:cubicBezTo>
                  <a:cubicBezTo>
                    <a:pt x="6176" y="2867"/>
                    <a:pt x="6184" y="2867"/>
                    <a:pt x="6192" y="2866"/>
                  </a:cubicBezTo>
                  <a:cubicBezTo>
                    <a:pt x="6275" y="2854"/>
                    <a:pt x="6335" y="2759"/>
                    <a:pt x="6323" y="2675"/>
                  </a:cubicBezTo>
                  <a:cubicBezTo>
                    <a:pt x="6264" y="2282"/>
                    <a:pt x="6133" y="1913"/>
                    <a:pt x="5954" y="1592"/>
                  </a:cubicBezTo>
                  <a:cubicBezTo>
                    <a:pt x="5990" y="1532"/>
                    <a:pt x="6025" y="1473"/>
                    <a:pt x="6073" y="1413"/>
                  </a:cubicBezTo>
                  <a:cubicBezTo>
                    <a:pt x="6133" y="1330"/>
                    <a:pt x="6192" y="1270"/>
                    <a:pt x="6252" y="1199"/>
                  </a:cubicBezTo>
                  <a:cubicBezTo>
                    <a:pt x="6395" y="1056"/>
                    <a:pt x="6561" y="901"/>
                    <a:pt x="6740" y="782"/>
                  </a:cubicBezTo>
                  <a:cubicBezTo>
                    <a:pt x="7121" y="520"/>
                    <a:pt x="7585" y="365"/>
                    <a:pt x="8050" y="318"/>
                  </a:cubicBezTo>
                  <a:cubicBezTo>
                    <a:pt x="8057" y="320"/>
                    <a:pt x="8065" y="322"/>
                    <a:pt x="8073" y="322"/>
                  </a:cubicBezTo>
                  <a:cubicBezTo>
                    <a:pt x="8137" y="322"/>
                    <a:pt x="8202" y="238"/>
                    <a:pt x="8180" y="163"/>
                  </a:cubicBezTo>
                  <a:cubicBezTo>
                    <a:pt x="8169" y="75"/>
                    <a:pt x="8107" y="7"/>
                    <a:pt x="8022" y="7"/>
                  </a:cubicBezTo>
                  <a:cubicBezTo>
                    <a:pt x="8016" y="7"/>
                    <a:pt x="8009" y="7"/>
                    <a:pt x="8002" y="8"/>
                  </a:cubicBezTo>
                  <a:cubicBezTo>
                    <a:pt x="7490" y="56"/>
                    <a:pt x="6978" y="234"/>
                    <a:pt x="6549" y="532"/>
                  </a:cubicBezTo>
                  <a:cubicBezTo>
                    <a:pt x="6359" y="663"/>
                    <a:pt x="6156" y="818"/>
                    <a:pt x="6002" y="996"/>
                  </a:cubicBezTo>
                  <a:cubicBezTo>
                    <a:pt x="5918" y="1068"/>
                    <a:pt x="5859" y="1139"/>
                    <a:pt x="5799" y="1211"/>
                  </a:cubicBezTo>
                  <a:cubicBezTo>
                    <a:pt x="5787" y="1247"/>
                    <a:pt x="5764" y="1258"/>
                    <a:pt x="5740" y="1294"/>
                  </a:cubicBezTo>
                  <a:cubicBezTo>
                    <a:pt x="5525" y="996"/>
                    <a:pt x="5252" y="735"/>
                    <a:pt x="4954" y="532"/>
                  </a:cubicBezTo>
                  <a:cubicBezTo>
                    <a:pt x="4414" y="174"/>
                    <a:pt x="3803" y="1"/>
                    <a:pt x="319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950;p92">
              <a:extLst>
                <a:ext uri="{FF2B5EF4-FFF2-40B4-BE49-F238E27FC236}">
                  <a16:creationId xmlns:a16="http://schemas.microsoft.com/office/drawing/2014/main" id="{092D2DEF-F41D-014C-D51E-5821C0D82F58}"/>
                </a:ext>
              </a:extLst>
            </p:cNvPr>
            <p:cNvSpPr/>
            <p:nvPr/>
          </p:nvSpPr>
          <p:spPr>
            <a:xfrm>
              <a:off x="4015113" y="2540870"/>
              <a:ext cx="96212" cy="95832"/>
            </a:xfrm>
            <a:custGeom>
              <a:avLst/>
              <a:gdLst/>
              <a:ahLst/>
              <a:cxnLst/>
              <a:rect l="l" t="t" r="r" b="b"/>
              <a:pathLst>
                <a:path w="3037" h="3025" extrusionOk="0">
                  <a:moveTo>
                    <a:pt x="1418" y="346"/>
                  </a:moveTo>
                  <a:cubicBezTo>
                    <a:pt x="2013" y="346"/>
                    <a:pt x="2501" y="834"/>
                    <a:pt x="2501" y="1430"/>
                  </a:cubicBezTo>
                  <a:cubicBezTo>
                    <a:pt x="2501" y="1668"/>
                    <a:pt x="2430" y="1894"/>
                    <a:pt x="2299" y="2072"/>
                  </a:cubicBezTo>
                  <a:lnTo>
                    <a:pt x="1537" y="1310"/>
                  </a:lnTo>
                  <a:cubicBezTo>
                    <a:pt x="1507" y="1281"/>
                    <a:pt x="1462" y="1266"/>
                    <a:pt x="1418" y="1266"/>
                  </a:cubicBezTo>
                  <a:cubicBezTo>
                    <a:pt x="1373" y="1266"/>
                    <a:pt x="1328" y="1281"/>
                    <a:pt x="1298" y="1310"/>
                  </a:cubicBezTo>
                  <a:cubicBezTo>
                    <a:pt x="1239" y="1370"/>
                    <a:pt x="1239" y="1489"/>
                    <a:pt x="1298" y="1549"/>
                  </a:cubicBezTo>
                  <a:lnTo>
                    <a:pt x="2060" y="2311"/>
                  </a:lnTo>
                  <a:cubicBezTo>
                    <a:pt x="1870" y="2442"/>
                    <a:pt x="1656" y="2513"/>
                    <a:pt x="1418" y="2513"/>
                  </a:cubicBezTo>
                  <a:cubicBezTo>
                    <a:pt x="822" y="2513"/>
                    <a:pt x="334" y="2025"/>
                    <a:pt x="334" y="1430"/>
                  </a:cubicBezTo>
                  <a:cubicBezTo>
                    <a:pt x="334" y="834"/>
                    <a:pt x="822" y="346"/>
                    <a:pt x="1418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30"/>
                  </a:cubicBezTo>
                  <a:cubicBezTo>
                    <a:pt x="1" y="2215"/>
                    <a:pt x="644" y="2858"/>
                    <a:pt x="1429" y="2858"/>
                  </a:cubicBezTo>
                  <a:cubicBezTo>
                    <a:pt x="1763" y="2858"/>
                    <a:pt x="2072" y="2739"/>
                    <a:pt x="2310" y="2549"/>
                  </a:cubicBezTo>
                  <a:lnTo>
                    <a:pt x="2739" y="2977"/>
                  </a:lnTo>
                  <a:cubicBezTo>
                    <a:pt x="2775" y="3001"/>
                    <a:pt x="2811" y="3025"/>
                    <a:pt x="2858" y="3025"/>
                  </a:cubicBezTo>
                  <a:cubicBezTo>
                    <a:pt x="2906" y="3025"/>
                    <a:pt x="2953" y="3001"/>
                    <a:pt x="2977" y="2977"/>
                  </a:cubicBezTo>
                  <a:cubicBezTo>
                    <a:pt x="3037" y="2918"/>
                    <a:pt x="3037" y="2811"/>
                    <a:pt x="2977" y="2739"/>
                  </a:cubicBezTo>
                  <a:lnTo>
                    <a:pt x="2549" y="2311"/>
                  </a:lnTo>
                  <a:cubicBezTo>
                    <a:pt x="2739" y="2072"/>
                    <a:pt x="2858" y="1751"/>
                    <a:pt x="2858" y="1430"/>
                  </a:cubicBezTo>
                  <a:cubicBezTo>
                    <a:pt x="2858" y="644"/>
                    <a:pt x="2215" y="1"/>
                    <a:pt x="14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951;p92">
              <a:extLst>
                <a:ext uri="{FF2B5EF4-FFF2-40B4-BE49-F238E27FC236}">
                  <a16:creationId xmlns:a16="http://schemas.microsoft.com/office/drawing/2014/main" id="{83BE3CB6-E273-F63F-0EA5-FEEB8FF31E47}"/>
                </a:ext>
              </a:extLst>
            </p:cNvPr>
            <p:cNvSpPr/>
            <p:nvPr/>
          </p:nvSpPr>
          <p:spPr>
            <a:xfrm>
              <a:off x="4186375" y="2539381"/>
              <a:ext cx="77331" cy="90541"/>
            </a:xfrm>
            <a:custGeom>
              <a:avLst/>
              <a:gdLst/>
              <a:ahLst/>
              <a:cxnLst/>
              <a:rect l="l" t="t" r="r" b="b"/>
              <a:pathLst>
                <a:path w="2441" h="2858" extrusionOk="0">
                  <a:moveTo>
                    <a:pt x="1203" y="607"/>
                  </a:moveTo>
                  <a:lnTo>
                    <a:pt x="1572" y="1524"/>
                  </a:lnTo>
                  <a:lnTo>
                    <a:pt x="834" y="1524"/>
                  </a:lnTo>
                  <a:lnTo>
                    <a:pt x="1203" y="607"/>
                  </a:lnTo>
                  <a:close/>
                  <a:moveTo>
                    <a:pt x="1215" y="0"/>
                  </a:moveTo>
                  <a:cubicBezTo>
                    <a:pt x="1155" y="0"/>
                    <a:pt x="1084" y="48"/>
                    <a:pt x="1072" y="107"/>
                  </a:cubicBezTo>
                  <a:lnTo>
                    <a:pt x="441" y="1619"/>
                  </a:lnTo>
                  <a:lnTo>
                    <a:pt x="24" y="2620"/>
                  </a:lnTo>
                  <a:cubicBezTo>
                    <a:pt x="0" y="2715"/>
                    <a:pt x="24" y="2798"/>
                    <a:pt x="119" y="2846"/>
                  </a:cubicBezTo>
                  <a:cubicBezTo>
                    <a:pt x="139" y="2851"/>
                    <a:pt x="159" y="2854"/>
                    <a:pt x="179" y="2854"/>
                  </a:cubicBezTo>
                  <a:cubicBezTo>
                    <a:pt x="245" y="2854"/>
                    <a:pt x="309" y="2823"/>
                    <a:pt x="345" y="2750"/>
                  </a:cubicBezTo>
                  <a:lnTo>
                    <a:pt x="714" y="1858"/>
                  </a:lnTo>
                  <a:lnTo>
                    <a:pt x="1750" y="1858"/>
                  </a:lnTo>
                  <a:lnTo>
                    <a:pt x="2131" y="2750"/>
                  </a:lnTo>
                  <a:cubicBezTo>
                    <a:pt x="2155" y="2810"/>
                    <a:pt x="2215" y="2858"/>
                    <a:pt x="2274" y="2858"/>
                  </a:cubicBezTo>
                  <a:cubicBezTo>
                    <a:pt x="2286" y="2858"/>
                    <a:pt x="2322" y="2858"/>
                    <a:pt x="2334" y="2846"/>
                  </a:cubicBezTo>
                  <a:cubicBezTo>
                    <a:pt x="2405" y="2798"/>
                    <a:pt x="2441" y="2715"/>
                    <a:pt x="2405" y="2620"/>
                  </a:cubicBezTo>
                  <a:lnTo>
                    <a:pt x="1988" y="1619"/>
                  </a:lnTo>
                  <a:lnTo>
                    <a:pt x="1369" y="107"/>
                  </a:lnTo>
                  <a:cubicBezTo>
                    <a:pt x="1334" y="48"/>
                    <a:pt x="1274" y="0"/>
                    <a:pt x="1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49251052"/>
      </p:ext>
    </p:extLst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397</Words>
  <Application>Microsoft Office PowerPoint</Application>
  <PresentationFormat>On-screen Show (16:9)</PresentationFormat>
  <Paragraphs>73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Commissioner</vt:lpstr>
      <vt:lpstr>Arial</vt:lpstr>
      <vt:lpstr>Golos Text</vt:lpstr>
      <vt:lpstr>Formulating a Research Problem for University Students by Slidesgo</vt:lpstr>
      <vt:lpstr>Crack Your First Interview</vt:lpstr>
      <vt:lpstr>An interview is not an exam where you pass or fail. It’s a conversation where both sides decide — are we right for each other?</vt:lpstr>
      <vt:lpstr>Interview Etiquettes</vt:lpstr>
      <vt:lpstr>Why Interview Etiquette Matters</vt:lpstr>
      <vt:lpstr>Before the Interview (Preparation)</vt:lpstr>
      <vt:lpstr>Dress Code &amp; Appearance</vt:lpstr>
      <vt:lpstr>Being On Time</vt:lpstr>
      <vt:lpstr>First Impression</vt:lpstr>
      <vt:lpstr>Body Language</vt:lpstr>
      <vt:lpstr>Communication Skills</vt:lpstr>
      <vt:lpstr>Answering Questions</vt:lpstr>
      <vt:lpstr>Common Mistakes to Avoid</vt:lpstr>
      <vt:lpstr>Asking Questions</vt:lpstr>
      <vt:lpstr>Closing the Interview</vt:lpstr>
      <vt:lpstr>After the Interview</vt:lpstr>
      <vt:lpstr>After the Interview</vt:lpstr>
      <vt:lpstr>Every interview is not about selection, it’s about self-discovery.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Crafting an Impressive CV as a Fresher</dc:title>
  <dc:creator>Khandakar Mehedi Hasan</dc:creator>
  <cp:lastModifiedBy>Mehedi-HR</cp:lastModifiedBy>
  <cp:revision>19</cp:revision>
  <dcterms:modified xsi:type="dcterms:W3CDTF">2026-04-02T07:38:54Z</dcterms:modified>
</cp:coreProperties>
</file>